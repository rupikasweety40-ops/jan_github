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87" r:id="rId5"/>
    <p:sldId id="275" r:id="rId6"/>
    <p:sldId id="261" r:id="rId7"/>
    <p:sldId id="262" r:id="rId8"/>
    <p:sldId id="297" r:id="rId9"/>
    <p:sldId id="288" r:id="rId10"/>
    <p:sldId id="294" r:id="rId11"/>
    <p:sldId id="298" r:id="rId12"/>
    <p:sldId id="289" r:id="rId13"/>
    <p:sldId id="290" r:id="rId14"/>
    <p:sldId id="291" r:id="rId15"/>
    <p:sldId id="295" r:id="rId16"/>
    <p:sldId id="2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67FAF6-2123-4D58-B80F-4841D98744BF}" v="41" dt="2025-11-11T19:53:52.750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4" autoAdjust="0"/>
    <p:restoredTop sz="84354" autoAdjust="0"/>
  </p:normalViewPr>
  <p:slideViewPr>
    <p:cSldViewPr snapToGrid="0">
      <p:cViewPr varScale="1">
        <p:scale>
          <a:sx n="56" d="100"/>
          <a:sy n="56" d="100"/>
        </p:scale>
        <p:origin x="876" y="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ABF47-C4AC-4D21-900D-AED1DE55B81F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9B099-C070-49FE-8339-31D3D3A8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59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B099-C070-49FE-8339-31D3D3A8CDA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803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B099-C070-49FE-8339-31D3D3A8CDA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4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B099-C070-49FE-8339-31D3D3A8CDA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672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B099-C070-49FE-8339-31D3D3A8CDA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82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B099-C070-49FE-8339-31D3D3A8CDA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89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E84C6-CC3A-8C16-F825-CAE985D16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D8B08-D4E9-66EC-F7CB-23AE56A74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1F41B-AECB-C60F-6C7E-ECE66C1D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B70C6-DD25-9ED9-8383-EAFFDB818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70C73-1B1E-20A4-FAE1-1C43220E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949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3FDA-5C58-1DBC-1D1B-62620C49D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1BFA9-6A33-FB42-B500-65A488FC1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6817B-EFBD-ACF3-773F-85F38AE8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BA7F3-F5A5-50F0-F456-E44EEF07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57EB7-7351-CC5A-2BB8-1623FBDF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46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642C1-E682-7700-E32D-39572D69D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2607B-A6C9-2F59-D27D-F8942F95B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FF15C-20A9-208D-B87E-2FD428518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8EDEE-7874-7B1B-5733-A6AA3D5D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6249-0640-F553-8F1C-F36B5091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13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F10B6-B215-66FD-E8CE-399537642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BF2C1-0FE6-0772-833E-ACB2AEC4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85726-8177-BB43-A162-DF6204A88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8099F-0F83-FFE2-CF47-A15BFE04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1BCDF-EE35-4A4A-1881-B0FB0086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A6E8F-A33B-DB27-CCE5-061D73BB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98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57AC0-4EA9-C122-49F9-A87FC0A9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39330-548A-EEF5-2A80-6C5A65C81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BD751-8FF8-8050-0FBB-0EFD1E058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31950E-2BA0-B399-ADBA-DDCF0E47F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57174-6224-35DB-56B2-F820E97FA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100413-246F-CBDD-3612-CFBC16D3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D1689D-A859-6779-46F6-830BFB8B9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1ABF6-63BB-4E3D-1A41-23540C8B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081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DCCB-3388-5803-6E8E-734E126D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EA7B8B-854B-73E4-87C8-F257A6F8B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92A16-4258-D910-C833-C33A044E4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31047-DEFC-FD1F-15FC-6706F828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92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9D3D8-F471-5815-0E30-434BE6770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8AF21-D7BE-29EF-6B4D-A2DEBB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81484-00CA-31E0-39F2-A2DEEDCB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65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DBC1-DF6E-945A-F237-A854CCF3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0E321-7440-EFA2-63CB-1370F3CA5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60AB4-DFE7-6CE2-C164-3388B344E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A8111-615D-366A-8D67-D39DF9A0E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44EC9-9FE4-CD8C-5FC9-41E02842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E4F66-85B6-C170-791D-38AA387E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23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4FCB-E87D-F99A-A64D-F5C60956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D7CD6-3C87-E725-F93F-84B32B9CC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C6B6E-C50B-1F75-A8A4-34EE19E69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970F1-6B52-DF14-A70B-82905B2E1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17351-120A-6B10-F3A0-DCB46B2A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5A440-61AD-6F05-B8FD-CB7CB465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440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5119D-7284-807D-CF66-1B42D693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A391F-57F2-B0CC-FBF5-00B10E3F0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DA2BF-B2C4-BAA7-EC51-7E2420975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08E69-D6A3-F0FD-6685-08232D33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7378F-3162-E087-A7F8-6AD6DDF51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57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A2193-6370-D7FC-FCF9-D8D9B4EEF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908E3-A268-1EC6-F87A-C64B0A75B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B8275-3260-DA8E-6245-06283F4A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8DA82-978D-E86D-F106-5C606E20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8FDC7-D834-F4B7-47F5-9892A8BE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2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1AA56-D474-AEF7-6AEE-C62DAEA7C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824C1-CB84-21B1-56DF-1A7062C5D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B28E2-D1FA-CAC3-7AB4-7E93E8CE9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D2074-9BDF-4074-B242-E77BD63AC0A2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CCE8B-3410-7C49-2601-A29BE177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941E4-774C-19A1-6B39-E8A87E3D7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96062-F0D2-4BF2-A326-C3F571E083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34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E4E95-C898-19B9-5FAD-F8C008D26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97279" y="24411"/>
            <a:ext cx="15011400" cy="3024577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Presentation</a:t>
            </a:r>
            <a:b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spc="-15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ELECTRONIC GADGET ADDICTION PREDICTION USING MACHINE LEARNING</a:t>
            </a:r>
            <a:b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Rupika	(22C91A05A8)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Mythri	(22C91A05B4)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Nandhini	(22C91A0568)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Vasu		(22C91A0593)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Abhiram	  (2291A05B8)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2FFAD-5983-3B8B-6941-05E82650E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982" y="3120144"/>
            <a:ext cx="9972136" cy="1280406"/>
          </a:xfrm>
        </p:spPr>
        <p:txBody>
          <a:bodyPr>
            <a:normAutofit/>
          </a:bodyPr>
          <a:lstStyle/>
          <a:p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Under the Guidance of                           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                       Head of the Department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</a:t>
            </a:r>
          </a:p>
          <a:p>
            <a:pPr algn="just"/>
            <a:r>
              <a:rPr lang="en-IN" sz="1600" b="1" dirty="0">
                <a:latin typeface="Times New Roman" pitchFamily="18" charset="0"/>
                <a:ea typeface="+mj-ea"/>
                <a:cs typeface="Times New Roman" pitchFamily="18" charset="0"/>
              </a:rPr>
              <a:t>         MR. N. SHIVALINGAM                        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D. PRASAD</a:t>
            </a:r>
            <a:r>
              <a:rPr lang="en-IN" sz="1600" b="1" dirty="0">
                <a:latin typeface="Times New Roman" pitchFamily="18" charset="0"/>
                <a:ea typeface="+mj-ea"/>
                <a:cs typeface="Times New Roman" pitchFamily="18" charset="0"/>
              </a:rPr>
              <a:t>                        MR .A. JITENDRA </a:t>
            </a:r>
            <a:r>
              <a:rPr lang="en-IN" sz="1600" b="1" dirty="0" err="1">
                <a:latin typeface="Times New Roman" pitchFamily="18" charset="0"/>
                <a:ea typeface="+mj-ea"/>
                <a:cs typeface="Times New Roman" pitchFamily="18" charset="0"/>
              </a:rPr>
              <a:t>M.Tech</a:t>
            </a:r>
            <a:r>
              <a:rPr lang="en-IN" sz="1600" b="1" dirty="0">
                <a:latin typeface="Times New Roman" pitchFamily="18" charset="0"/>
                <a:ea typeface="+mj-ea"/>
                <a:cs typeface="Times New Roman" pitchFamily="18" charset="0"/>
              </a:rPr>
              <a:t> (Ph.D.)</a:t>
            </a:r>
          </a:p>
          <a:p>
            <a:pPr algn="just"/>
            <a:r>
              <a:rPr lang="en-IN" sz="1600" b="1" dirty="0">
                <a:latin typeface="Times New Roman" pitchFamily="18" charset="0"/>
                <a:ea typeface="+mj-ea"/>
                <a:cs typeface="Times New Roman" pitchFamily="18" charset="0"/>
              </a:rPr>
              <a:t>             Assistant   Professor                                 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r>
              <a:rPr lang="en-IN" sz="1600" b="1" dirty="0">
                <a:latin typeface="Times New Roman" pitchFamily="18" charset="0"/>
                <a:ea typeface="+mj-ea"/>
                <a:cs typeface="Times New Roman" pitchFamily="18" charset="0"/>
              </a:rPr>
              <a:t>                                     Associate  Professor</a:t>
            </a:r>
            <a:endParaRPr lang="en-IN" sz="1600" b="1" dirty="0"/>
          </a:p>
        </p:txBody>
      </p:sp>
      <p:sp>
        <p:nvSpPr>
          <p:cNvPr id="5" name="Subtitle 10">
            <a:extLst>
              <a:ext uri="{FF2B5EF4-FFF2-40B4-BE49-F238E27FC236}">
                <a16:creationId xmlns:a16="http://schemas.microsoft.com/office/drawing/2014/main" id="{A70B6878-FDA3-12F4-2C8C-31EE392E50A0}"/>
              </a:ext>
            </a:extLst>
          </p:cNvPr>
          <p:cNvSpPr txBox="1">
            <a:spLocks/>
          </p:cNvSpPr>
          <p:nvPr/>
        </p:nvSpPr>
        <p:spPr>
          <a:xfrm>
            <a:off x="1109932" y="5321300"/>
            <a:ext cx="9972136" cy="1462491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pPr marL="342900" indent="-342900" algn="ctr">
              <a:lnSpc>
                <a:spcPct val="120000"/>
              </a:lnSpc>
              <a:spcBef>
                <a:spcPts val="600"/>
              </a:spcBef>
              <a:defRPr/>
            </a:pPr>
            <a:r>
              <a:rPr lang="en-IN" sz="7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HOLY MARY INSTITUTE OF TECHNOLOGY AND SCIENCE</a:t>
            </a: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defRPr/>
            </a:pPr>
            <a:r>
              <a:rPr lang="en-IN" sz="5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COMPUTER SCIENCE &amp; ENGINEERING</a:t>
            </a: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defRPr/>
            </a:pPr>
            <a:r>
              <a:rPr lang="en-IN" sz="5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(UGC AUTONOMOUS)</a:t>
            </a: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defRPr/>
            </a:pPr>
            <a:r>
              <a:rPr lang="en-IN" sz="5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IN" sz="6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Approved by AICTE , New Delhi, Affiliated to JNTUH,, Accredited by NAAC ‘A’ grade )</a:t>
            </a:r>
            <a:r>
              <a:rPr lang="en-IN" sz="5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defRPr/>
            </a:pPr>
            <a:endParaRPr lang="en-IN" sz="5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defRPr/>
            </a:pPr>
            <a:endParaRPr lang="en-IN" sz="48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US" sz="3200" dirty="0"/>
          </a:p>
        </p:txBody>
      </p:sp>
      <p:pic>
        <p:nvPicPr>
          <p:cNvPr id="6" name="Picture 5" descr="HOLY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0" y="4040894"/>
            <a:ext cx="2400300" cy="128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36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180420-3CFE-95D9-622C-D4E7B58CAD12}"/>
              </a:ext>
            </a:extLst>
          </p:cNvPr>
          <p:cNvSpPr txBox="1"/>
          <p:nvPr/>
        </p:nvSpPr>
        <p:spPr>
          <a:xfrm>
            <a:off x="1224434" y="238670"/>
            <a:ext cx="9743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370C3-B4EC-AC06-78D1-989421C814C9}"/>
              </a:ext>
            </a:extLst>
          </p:cNvPr>
          <p:cNvSpPr txBox="1"/>
          <p:nvPr/>
        </p:nvSpPr>
        <p:spPr>
          <a:xfrm flipH="1">
            <a:off x="1175635" y="1181261"/>
            <a:ext cx="4661593" cy="5311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50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B25E9F8-8261-D7E2-77D9-85128B10C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015"/>
            <a:ext cx="9086636" cy="5856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17E1E39-2211-3982-0C82-466A784171E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14401" y="698645"/>
            <a:ext cx="9726930" cy="711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gadgets such as smartphones, tablets, and laptops are widely used in today’s technology-driven world.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devices improve productivity and connectivity but excessive use has created a growing problem of gadget addiction.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Gadget addiction is increasing especially among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young professionals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project aims to build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predicts the likelihood of electronic-gadget addiction.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 are used to analyze user behavior and usage patterns.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factors considered include: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time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activity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disturbances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several machine learning algorithms such as: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classifies users into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 based on their behavior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contributes to building advanced digital-health tools and spreading awareness about responsible gadget usage.</a:t>
            </a:r>
          </a:p>
          <a:p>
            <a:pPr marL="0" indent="0">
              <a:buNone/>
            </a:pPr>
            <a:br>
              <a:rPr lang="en-US" sz="1800" dirty="0"/>
            </a:br>
            <a:endParaRPr lang="en-US" sz="1800" dirty="0"/>
          </a:p>
          <a:p>
            <a:pPr marL="0" indent="0" algn="ctr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08014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39B3-2085-17A8-BAC4-C533A2D70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28600"/>
          </a:xfrm>
        </p:spPr>
        <p:txBody>
          <a:bodyPr>
            <a:normAutofit fontScale="90000"/>
          </a:bodyPr>
          <a:lstStyle/>
          <a:p>
            <a:r>
              <a:rPr lang="en-IN" sz="40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br>
              <a:rPr lang="en-IN" sz="60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39C2F-1FA9-323F-B7F0-DA5C1FEB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126" y="1335639"/>
            <a:ext cx="10202238" cy="4366517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Growth: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21st century, rapid technological innovation has significantly changed how people live, work, and communicate.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Gadget Dependency: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rise of digital devices has led to increased dependency on electronic gadgets, especially among teenagers and young adults.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Effects of Excessive Usage: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Overuse of gadgets has caused problems like reduced academic performance, sleep disturbances, anxiety, and weakened social interactions.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Mental Health &amp; Lifestyle: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screen exposure and excessive engagement in social media, gaming, and digital entertainment negatively affect mental health, productivity, and relationships.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Prediction: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techniques can analyze user behavior data such as screen time, app usage patterns, and online activity frequency to predict levels of addiction.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Predictive Modeling: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algorithms and predictive models help identify users at risk and provide early warnings or personalized recommendations.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the Project: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promote digital wellness by helping individuals understand their digital habits and maintain a healthy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between virtual and real worlds.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688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40C2-EF69-BE11-782E-988F4A1D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38200" y="228599"/>
            <a:ext cx="10515600" cy="608194"/>
          </a:xfrm>
        </p:spPr>
        <p:txBody>
          <a:bodyPr>
            <a:no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576ED60-0B2D-88F1-53DB-E6652DF0C6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1252005"/>
              </p:ext>
            </p:extLst>
          </p:nvPr>
        </p:nvGraphicFramePr>
        <p:xfrm>
          <a:off x="736600" y="959903"/>
          <a:ext cx="10617201" cy="57926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01500">
                  <a:extLst>
                    <a:ext uri="{9D8B030D-6E8A-4147-A177-3AD203B41FA5}">
                      <a16:colId xmlns:a16="http://schemas.microsoft.com/office/drawing/2014/main" val="3377837078"/>
                    </a:ext>
                  </a:extLst>
                </a:gridCol>
                <a:gridCol w="1746351">
                  <a:extLst>
                    <a:ext uri="{9D8B030D-6E8A-4147-A177-3AD203B41FA5}">
                      <a16:colId xmlns:a16="http://schemas.microsoft.com/office/drawing/2014/main" val="887352740"/>
                    </a:ext>
                  </a:extLst>
                </a:gridCol>
                <a:gridCol w="2137883">
                  <a:extLst>
                    <a:ext uri="{9D8B030D-6E8A-4147-A177-3AD203B41FA5}">
                      <a16:colId xmlns:a16="http://schemas.microsoft.com/office/drawing/2014/main" val="3125663351"/>
                    </a:ext>
                  </a:extLst>
                </a:gridCol>
                <a:gridCol w="2831467">
                  <a:extLst>
                    <a:ext uri="{9D8B030D-6E8A-4147-A177-3AD203B41FA5}">
                      <a16:colId xmlns:a16="http://schemas.microsoft.com/office/drawing/2014/main" val="3080965621"/>
                    </a:ext>
                  </a:extLst>
                </a:gridCol>
              </a:tblGrid>
              <a:tr h="449011"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           Paper Title  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ctr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Published Year 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Technique  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Methodology Result  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extLst>
                  <a:ext uri="{0D108BD9-81ED-4DB2-BD59-A6C34878D82A}">
                    <a16:rowId xmlns:a16="http://schemas.microsoft.com/office/drawing/2014/main" val="1591450151"/>
                  </a:ext>
                </a:extLst>
              </a:tr>
              <a:tr h="921395">
                <a:tc>
                  <a:txBody>
                    <a:bodyPr/>
                    <a:lstStyle/>
                    <a:p>
                      <a:pPr marR="1270" lvl="0" indent="246380" algn="l">
                        <a:lnSpc>
                          <a:spcPct val="107000"/>
                        </a:lnSpc>
                        <a:spcAft>
                          <a:spcPts val="85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prediction of problematic      smartphone use — K. Kim et al.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64135" indent="246380" algn="ctr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2004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  <a:tabLst>
                          <a:tab pos="857885" algn="ctr"/>
                          <a:tab pos="1637030" algn="r"/>
                        </a:tabLst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LR, RF, XG Boost, SHAP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survey + usage data. Identified key predictors like screen time and personality. RF/XG Boost showed best performance.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extLst>
                  <a:ext uri="{0D108BD9-81ED-4DB2-BD59-A6C34878D82A}">
                    <a16:rowId xmlns:a16="http://schemas.microsoft.com/office/drawing/2014/main" val="634447512"/>
                  </a:ext>
                </a:extLst>
              </a:tr>
              <a:tr h="921395"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85"/>
                        </a:spcAft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prediction of adolescent Internet addiction — Y. Gan  et al.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64135" indent="246380" algn="ctr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 Boost, RF, LR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just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Adolescent survey dataset. Psychological + demographic features. XG Boost achieved highest accuracy and identified risk factors.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extLst>
                  <a:ext uri="{0D108BD9-81ED-4DB2-BD59-A6C34878D82A}">
                    <a16:rowId xmlns:a16="http://schemas.microsoft.com/office/drawing/2014/main" val="1405878330"/>
                  </a:ext>
                </a:extLst>
              </a:tr>
              <a:tr h="921395"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85"/>
                        </a:spcAft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ML for Internet addiction — J. Liu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64135" indent="246380" algn="ctr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Boosting, SHAP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  <a:tabLst>
                          <a:tab pos="883920" algn="ctr"/>
                          <a:tab pos="1343025" algn="ctr"/>
                          <a:tab pos="2192020" algn="r"/>
                        </a:tabLst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behavioral dataset. Feature engineering + imbalance handling. Strong AUC; cognitive/emotional features most predictive.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extLst>
                  <a:ext uri="{0D108BD9-81ED-4DB2-BD59-A6C34878D82A}">
                    <a16:rowId xmlns:a16="http://schemas.microsoft.com/office/drawing/2014/main" val="3714492360"/>
                  </a:ext>
                </a:extLst>
              </a:tr>
              <a:tr h="921395"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15"/>
                        </a:spcAft>
                        <a:buNone/>
                        <a:tabLst>
                          <a:tab pos="697865" algn="ctr"/>
                          <a:tab pos="1261745" algn="ctr"/>
                          <a:tab pos="1807845" algn="r"/>
                        </a:tabLst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Smartphone Addiction in Teenagers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64135" indent="246380" algn="ctr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RF, LR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Teen survey + personality traits. Cross-validation. Moderate accuracy; neuroticism strongly associated with addiction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extLst>
                  <a:ext uri="{0D108BD9-81ED-4DB2-BD59-A6C34878D82A}">
                    <a16:rowId xmlns:a16="http://schemas.microsoft.com/office/drawing/2014/main" val="32779563"/>
                  </a:ext>
                </a:extLst>
              </a:tr>
              <a:tr h="688590"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85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 for Smartphone Addiction —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Indianapublications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64135" indent="246380" algn="ctr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Tree, RF, LR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just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Undergraduate survey dataset. Screen habits analyzed. RF achieved ~0.74 accuracy.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extLst>
                  <a:ext uri="{0D108BD9-81ED-4DB2-BD59-A6C34878D82A}">
                    <a16:rowId xmlns:a16="http://schemas.microsoft.com/office/drawing/2014/main" val="3789402621"/>
                  </a:ext>
                </a:extLst>
              </a:tr>
              <a:tr h="969428"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85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Modeling of Gadget Addiction — IJCRT 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64135" indent="246380" algn="ctr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Tree, RF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tc>
                  <a:txBody>
                    <a:bodyPr/>
                    <a:lstStyle/>
                    <a:p>
                      <a:pPr marR="1270" indent="246380" algn="l">
                        <a:lnSpc>
                          <a:spcPct val="107000"/>
                        </a:lnSpc>
                        <a:spcAft>
                          <a:spcPts val="1045"/>
                        </a:spcAft>
                        <a:buNone/>
                        <a:tabLst>
                          <a:tab pos="882650" algn="ctr"/>
                          <a:tab pos="1482090" algn="ctr"/>
                          <a:tab pos="2192020" algn="r"/>
                        </a:tabLst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 (18–25) dataset.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Behavioural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psychological features. RF performed best; screen-time &amp; anxiety strongest predictors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87" marR="2677" marT="1606" marB="0"/>
                </a:tc>
                <a:extLst>
                  <a:ext uri="{0D108BD9-81ED-4DB2-BD59-A6C34878D82A}">
                    <a16:rowId xmlns:a16="http://schemas.microsoft.com/office/drawing/2014/main" val="385034845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6F10F124-CF26-2744-A876-E8D13B9DE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240003" y="105489"/>
            <a:ext cx="2316824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46063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60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302B74-4ACB-140B-EEA0-53348B54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325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3D5D7E-391E-20F6-5D84-1167D0899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382"/>
            <a:ext cx="10515600" cy="505449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Smartphone Usage Monitoring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screen time, app usage, number of unlocks.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 to detect excessive usage.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Survey-Based Psychological Assessment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questionnaires like Smartphone Addiction Scale.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classifiers predict risk levels: low, medium, or high addiction.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Social Media &amp; Online Activity Analysis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time spent on social media, gaming, browsing.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identifies addictive behaviour from abnormal engagement patterns.</a:t>
            </a: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Wearable-based Monitoring Systems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sleep patterns, physical activity, heart rate.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identify correlations between reduced sleep/physical activity and high gadget usage.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adolescents and adults.</a:t>
            </a:r>
          </a:p>
        </p:txBody>
      </p:sp>
    </p:spTree>
    <p:extLst>
      <p:ext uri="{BB962C8B-B14F-4D97-AF65-F5344CB8AC3E}">
        <p14:creationId xmlns:p14="http://schemas.microsoft.com/office/powerpoint/2010/main" val="1816551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1FEB8403-F25F-0AC5-1CF6-FE0E8E1B5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058" y="179930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9D8A8FB-580D-5FA9-BAE7-975B9F5BB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9658" y="44202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F01B93-9243-7339-F648-A17FD3AC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100"/>
            <a:ext cx="10515600" cy="1398588"/>
          </a:xfrm>
        </p:spPr>
        <p:txBody>
          <a:bodyPr>
            <a:normAutofit/>
          </a:bodyPr>
          <a:lstStyle/>
          <a:p>
            <a:r>
              <a:rPr lang="en-US" sz="3600" b="1" dirty="0"/>
              <a:t>                            </a:t>
            </a: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15014580-357F-8777-F3EF-2565D7C00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7840" y="1539241"/>
            <a:ext cx="8549640" cy="460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13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5FCE9-0B5C-C53F-6499-F70EB713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8342-ED3B-A081-DF04-9D3DB1C7E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5346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Data is Collected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screen time, app usage logs, and survey/behavior data from the user.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is Cleaned and Processed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corrected, filtered, and normalized.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like average screen time, most used apps, sleep patterns, etc., are extracted.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Machine Learning Model is Trained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is used to train the model. Algorithms like Decision Tree, Random Forest, SVM, or Neural Networks learn patterns of addiction.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Predicts Addiction Risk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analyzes the user’s data and predicts whether the user is at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gadget addiction.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System Gives Recommendations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addiction level, the system provides tips or strategies to reduce overuse and maintain healthy digital habits.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214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4D5C10-8CA8-3216-3165-495D9D97C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311"/>
            <a:ext cx="9144000" cy="68579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42317FE-6C9E-300E-F50B-36E318FC3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098" y="1108711"/>
            <a:ext cx="9622662" cy="5380990"/>
          </a:xfrm>
        </p:spPr>
        <p:txBody>
          <a:bodyPr>
            <a:noAutofit/>
          </a:bodyPr>
          <a:lstStyle/>
          <a:p>
            <a:pPr marL="342900" indent="-342900" algn="just"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Data Collection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collects detailed app usage, screen time, sleep patterns, emotional state, and notification behavior. This gives a richer dataset than existing systems for more accurate prediction.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Intelligent Data Preprocessing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cleaned, normalized, and converted into meaningful formats for machine learning. Irrelevant or noisy data is removed to improve model accuracy.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Engineering with Behavioral Indicators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like late-night usage, unlock frequency, rapid app switching, and mood changes are extracted. These behavioral indicators help detect early signs of digital addiction.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 of Hybrid Machine Learning Models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algorithms like Random Forest, SVM, and LSTM to analyze both static and time-based data. Hybrid models provide higher accuracy and better learning of user behavior patterns.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Personalized Addiction Prediction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the user's addiction level (Low, Medium, High) based on learned patterns. Personalization ensures predictions match individual habits rather than general trends.</a:t>
            </a:r>
          </a:p>
        </p:txBody>
      </p:sp>
    </p:spTree>
    <p:extLst>
      <p:ext uri="{BB962C8B-B14F-4D97-AF65-F5344CB8AC3E}">
        <p14:creationId xmlns:p14="http://schemas.microsoft.com/office/powerpoint/2010/main" val="3452292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2C49-DFCC-E082-7A60-9A5683E5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920"/>
            <a:ext cx="10515600" cy="2148840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074D32-82BB-9FDE-6E5B-387DE1119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3561908"/>
            <a:ext cx="8096250" cy="3030278"/>
          </a:xfrm>
          <a:prstGeom prst="rect">
            <a:avLst/>
          </a:prstGeom>
        </p:spPr>
      </p:pic>
      <p:pic>
        <p:nvPicPr>
          <p:cNvPr id="6" name="Content Placeholder 5" descr="A diagram of a machine learning model&#10;&#10;AI-generated content may be incorrect.">
            <a:extLst>
              <a:ext uri="{FF2B5EF4-FFF2-40B4-BE49-F238E27FC236}">
                <a16:creationId xmlns:a16="http://schemas.microsoft.com/office/drawing/2014/main" id="{B435793A-637E-0E3D-E979-70A8AB7E3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20" y="1539241"/>
            <a:ext cx="9433559" cy="5318759"/>
          </a:xfrm>
        </p:spPr>
      </p:pic>
    </p:spTree>
    <p:extLst>
      <p:ext uri="{BB962C8B-B14F-4D97-AF65-F5344CB8AC3E}">
        <p14:creationId xmlns:p14="http://schemas.microsoft.com/office/powerpoint/2010/main" val="1967763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318F4-A784-220F-6E8B-AF6BED167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871"/>
            <a:ext cx="10515600" cy="102869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EXPLANATION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55E58-5A01-FAD9-BAEC-40040BEA9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982980"/>
            <a:ext cx="10988040" cy="606446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Acquisition &amp; Pre-Processing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data from: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usage (screen time, app usage, notifications)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sensors (heart rate, sleep, physical activity)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surveys/self-reports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Performs: Data cleaning (removing errors, duplicates)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(creating useful variables from raw data)</a:t>
            </a: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Machine Learning Model Development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choose the most important data features.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using ML algorithms: Random Forest, SVM, Neural Networks, Others (classification or regression)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using metrics:Accuracy,Precision,Recall,F1-Score.</a:t>
            </a: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Prediction &amp; Decision Support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addiction risk score for users.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shows: Dashboard, Personalized reports, Suggestions &amp; reminders.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is used to improve the model further.</a:t>
            </a:r>
          </a:p>
        </p:txBody>
      </p:sp>
    </p:spTree>
    <p:extLst>
      <p:ext uri="{BB962C8B-B14F-4D97-AF65-F5344CB8AC3E}">
        <p14:creationId xmlns:p14="http://schemas.microsoft.com/office/powerpoint/2010/main" val="1088558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4DEA0-DDD6-6592-E7C2-DDC036640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695F-C787-3DEE-87F1-3A296296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96593" y="1541124"/>
            <a:ext cx="13523872" cy="4968579"/>
          </a:xfrm>
        </p:spPr>
        <p:txBody>
          <a:bodyPr>
            <a:normAutofit/>
          </a:bodyPr>
          <a:lstStyle/>
          <a:p>
            <a:pPr marL="3657600" lvl="8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>
              <a:buSzPct val="79000"/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Insights: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feedback based on the user’s real usage patterns.</a:t>
            </a:r>
          </a:p>
          <a:p>
            <a:pPr lvl="4">
              <a:buSzPct val="79000"/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Works continuously without manual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checking.</a:t>
            </a:r>
          </a:p>
          <a:p>
            <a:pPr lvl="4">
              <a:buSzPct val="79000"/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reduce human error in identifying addiction.</a:t>
            </a:r>
          </a:p>
          <a:p>
            <a:pPr lvl="4">
              <a:buSzPct val="79000"/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Improvement: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control screen time with meaningful suggestions.</a:t>
            </a:r>
          </a:p>
          <a:p>
            <a:pPr lvl="4">
              <a:buSzPct val="79000"/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usage instantly for timely alerts.</a:t>
            </a:r>
          </a:p>
          <a:p>
            <a:pPr lvl="4">
              <a:buSzPct val="79000"/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Encourages healthy digital habits based on evidence.</a:t>
            </a:r>
          </a:p>
          <a:p>
            <a:pPr lvl="4">
              <a:buSzPct val="79000"/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easily support many users with the same model.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60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290E-6138-4334-D0F1-3CA36B46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C1252-97CE-8AC3-7EFF-D6798AB77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255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Concerns: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worry about their usage data being collected.</a:t>
            </a:r>
          </a:p>
          <a:p>
            <a:pPr>
              <a:lnSpc>
                <a:spcPct val="100000"/>
              </a:lnSpc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Inaccuracy: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predictions may occur with poor or incomplete data.</a:t>
            </a:r>
          </a:p>
          <a:p>
            <a:pPr>
              <a:lnSpc>
                <a:spcPct val="100000"/>
              </a:lnSpc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Drain: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can reduce battery life.</a:t>
            </a:r>
          </a:p>
          <a:p>
            <a:pPr>
              <a:lnSpc>
                <a:spcPct val="100000"/>
              </a:lnSpc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Over-Monitoring Feeling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may feel uncomfortable being tracked.</a:t>
            </a:r>
          </a:p>
          <a:p>
            <a:pPr>
              <a:lnSpc>
                <a:spcPct val="100000"/>
              </a:lnSpc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Dependency: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decreases if device sensors or permissions fail.</a:t>
            </a:r>
          </a:p>
          <a:p>
            <a:pPr>
              <a:lnSpc>
                <a:spcPct val="100000"/>
              </a:lnSpc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Generalization: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may not work equally well for all age groups or lifestyles.</a:t>
            </a:r>
          </a:p>
          <a:p>
            <a:pPr>
              <a:lnSpc>
                <a:spcPct val="100000"/>
              </a:lnSpc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Regular Updates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ML models need frequent retraining to stay accurate.</a:t>
            </a:r>
          </a:p>
          <a:p>
            <a:pPr>
              <a:lnSpc>
                <a:spcPct val="100000"/>
              </a:lnSpc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Misinterpretation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might misunderstand the risk level shown by the system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31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004A8-2B52-D8AF-34E1-5492F2AC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736FD-D70E-6156-D63B-7F26E0EC1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900"/>
            <a:ext cx="10515600" cy="4351338"/>
          </a:xfrm>
        </p:spPr>
        <p:txBody>
          <a:bodyPr>
            <a:normAutofit/>
          </a:bodyPr>
          <a:lstStyle/>
          <a:p>
            <a:pPr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&amp; Wellness Apps: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monitor and control excessive screen time.</a:t>
            </a:r>
          </a:p>
          <a:p>
            <a:pPr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students with high gadget dependency for timely guidance.</a:t>
            </a:r>
          </a:p>
          <a:p>
            <a:pPr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Parental Control Systems: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parents in tracking and managing children’s device usage.</a:t>
            </a:r>
          </a:p>
          <a:p>
            <a:pPr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Workplace Productivity Tools: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overuse that affects employee focus and efficiency.</a:t>
            </a:r>
          </a:p>
          <a:p>
            <a:pPr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Detox Programs: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therapy or counseling by providing behavior data.</a:t>
            </a:r>
          </a:p>
          <a:p>
            <a:pPr>
              <a:buSzPct val="79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Studies: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psychologists and researchers analyze digital addiction patterns.</a:t>
            </a:r>
          </a:p>
        </p:txBody>
      </p:sp>
    </p:spTree>
    <p:extLst>
      <p:ext uri="{BB962C8B-B14F-4D97-AF65-F5344CB8AC3E}">
        <p14:creationId xmlns:p14="http://schemas.microsoft.com/office/powerpoint/2010/main" val="2999458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56F9-80B3-CF50-91FD-082C79FA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71F01-A1F0-6472-8321-02134EC28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The project proved that machine learning can accurately predict electronic gadget addiction.</a:t>
            </a:r>
          </a:p>
          <a:p>
            <a:r>
              <a:rPr lang="en-US" sz="1800" dirty="0"/>
              <a:t>It collected key behavioral data and converted it into meaningful features.</a:t>
            </a:r>
          </a:p>
          <a:p>
            <a:r>
              <a:rPr lang="en-US" sz="1800" dirty="0"/>
              <a:t>The system successfully classified users’ addiction risk with good accuracy.</a:t>
            </a:r>
          </a:p>
          <a:p>
            <a:r>
              <a:rPr lang="en-US" sz="1800" dirty="0"/>
              <a:t>It provided helpful insights for understanding digital usage patterns.</a:t>
            </a:r>
          </a:p>
          <a:p>
            <a:r>
              <a:rPr lang="en-US" sz="1800" dirty="0"/>
              <a:t>ML prediction showed practical value for early detection of unhealthy gadget habits.</a:t>
            </a:r>
          </a:p>
          <a:p>
            <a:r>
              <a:rPr lang="en-US" sz="1800" dirty="0"/>
              <a:t>The project achieved all its objectives with a functional prediction model.</a:t>
            </a:r>
          </a:p>
          <a:p>
            <a:r>
              <a:rPr lang="en-US" sz="1800" dirty="0"/>
              <a:t>The results showed that technology can help promote healthier and balanced gadget use.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945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DD1636-AA1E-87B0-9377-CC9315E554D6}"/>
              </a:ext>
            </a:extLst>
          </p:cNvPr>
          <p:cNvSpPr txBox="1"/>
          <p:nvPr/>
        </p:nvSpPr>
        <p:spPr>
          <a:xfrm>
            <a:off x="770468" y="1473204"/>
            <a:ext cx="872913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THANK YOU…</a:t>
            </a:r>
          </a:p>
        </p:txBody>
      </p:sp>
    </p:spTree>
    <p:extLst>
      <p:ext uri="{BB962C8B-B14F-4D97-AF65-F5344CB8AC3E}">
        <p14:creationId xmlns:p14="http://schemas.microsoft.com/office/powerpoint/2010/main" val="813353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1668</Words>
  <Application>Microsoft Office PowerPoint</Application>
  <PresentationFormat>Widescreen</PresentationFormat>
  <Paragraphs>170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Major Project Presentation on ELECTRONIC GADGET ADDICTION PREDICTION USING MACHINE LEARNING By M. Rupika (22C91A05A8) M. Mythri (22C91A05B4) G. Nandhini (22C91A0568) K. Vasu  (22C91A0593) M. Abhiram   (2291A05B8)</vt:lpstr>
      <vt:lpstr>PowerPoint Presentation</vt:lpstr>
      <vt:lpstr>ABSTRACT</vt:lpstr>
      <vt:lpstr>INTRODUCTION </vt:lpstr>
      <vt:lpstr>LITERATURE SURVEY</vt:lpstr>
      <vt:lpstr>                          EXISTING SYSTEM</vt:lpstr>
      <vt:lpstr>                            BLOCK DIAGRAM</vt:lpstr>
      <vt:lpstr>                          EXPLANATION</vt:lpstr>
      <vt:lpstr>PROPOSED SYSTEM</vt:lpstr>
      <vt:lpstr>BLOCK DIAGRAM</vt:lpstr>
      <vt:lpstr>                               EXPLANATION</vt:lpstr>
      <vt:lpstr>ADVANTAGES</vt:lpstr>
      <vt:lpstr>DISADVANTAGES</vt:lpstr>
      <vt:lpstr>APPLICATIONS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 Tech Major Project Presentation on MODELLING AND SIMULATION OF HIGH STEP-UP DC TO AC CONVERTER FOR MICROSOURCE APPLICATION By RENUKUNTLA ANJAN KUMAR      (214931232L) BUDAGAM MANOJ KUMAR            (214931231L) MEKALA GANESH                              (214931225L) PAKA JAHNAVI                                    (20493T1204)</dc:title>
  <dc:creator>NAVEEN</dc:creator>
  <cp:lastModifiedBy>rupikasweety40@gmail.com</cp:lastModifiedBy>
  <cp:revision>88</cp:revision>
  <dcterms:created xsi:type="dcterms:W3CDTF">2024-04-14T01:59:59Z</dcterms:created>
  <dcterms:modified xsi:type="dcterms:W3CDTF">2025-11-17T16:16:57Z</dcterms:modified>
</cp:coreProperties>
</file>